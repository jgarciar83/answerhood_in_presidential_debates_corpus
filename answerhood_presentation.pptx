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Detection of Answerhood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Presidential Q&amp;A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2011680" cy="54864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 Annotation and Classification Approach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Garcia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Computational Linguistics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251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42519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4251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42519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4251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425196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42519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Answerhood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402336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270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answerhood?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degree to which a politician's response actually addresses the question posed. Presidential debates create ideal conditions for studying evasion — participants are pressured to respond yet often avoid commitment.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43434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417320"/>
            <a:ext cx="43434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52704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187452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undermines democratic accountability. Computational detection can scale analysis across thousands of exchanges that would take human analysts weeks to review.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63240"/>
            <a:ext cx="2651760" cy="54864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hierarchical annotation scheme reliably capture directness and evasion in debate Q&amp;A?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7832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3063240"/>
            <a:ext cx="2651760" cy="54864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3319272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19272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consistently do annotators of mixed expertise apply the coding scheme?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35624" y="306324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35624" y="3063240"/>
            <a:ext cx="2651760" cy="54864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4" name="Text 22"/>
          <p:cNvSpPr/>
          <p:nvPr/>
        </p:nvSpPr>
        <p:spPr>
          <a:xfrm>
            <a:off x="6227064" y="3127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27064" y="34930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TF-IDF classifiers with balanced weights learn meaningful patterns at each layer?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Corpus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&amp; 2004 U.S. Presidential Debate Transcripts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920240" cy="1371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1920240" cy="6400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81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5F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instances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1371600"/>
            <a:ext cx="1920240" cy="1371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371600"/>
            <a:ext cx="1920240" cy="6400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481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468880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1371600"/>
            <a:ext cx="1920240" cy="1371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371600"/>
            <a:ext cx="1920240" cy="640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4813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526280" y="2221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layers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1371600"/>
            <a:ext cx="2331720" cy="13716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1371600"/>
            <a:ext cx="2331720" cy="64008"/>
          </a:xfrm>
          <a:prstGeom prst="rect">
            <a:avLst/>
          </a:prstGeom>
          <a:solidFill>
            <a:srgbClr val="6B7A8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48132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583680" y="222199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907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American Presidency Project  ·  Input format: [Question] [SEP] [Candidate Utterance]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310128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10128"/>
            <a:ext cx="416052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Annotator Pool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730752"/>
            <a:ext cx="3886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  (A.A, CLM, MR)
</a:t>
            </a:r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2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Seniors  (AM, BD, TM)
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00" i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session (time constraints)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310128"/>
            <a:ext cx="41605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310128"/>
            <a:ext cx="41605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832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Design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3730752"/>
            <a:ext cx="3886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overlap — </a:t>
            </a:r>
            <a:pPr indent="0" marL="0">
              <a:buNone/>
            </a:pPr>
            <a:r>
              <a:rPr lang="en-US" sz="12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annotator labeled a subset
</a:t>
            </a:r>
            <a:pPr indent="0" marL="0">
              <a:buNone/>
            </a:pPr>
            <a:r>
              <a:rPr lang="en-US" sz="12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 rated by all 6 annotators
</a:t>
            </a:r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TM/Torney </a:t>
            </a:r>
            <a:pPr indent="0" marL="0">
              <a:buNone/>
            </a:pPr>
            <a:r>
              <a:rPr lang="en-US" sz="12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(duplicate ID, 1 annotator)
</a:t>
            </a:r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ambiguous ATTACK labels excluded from Layer 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Corpus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Annotation Scheme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dependent layers — each gates the next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01168" cy="111556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435608"/>
            <a:ext cx="1051560" cy="29260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4356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1417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Directness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4173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responses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174650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 ·  NOT_DIRECT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828800" y="200253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· Single-label  ·  Is the candidate's response directly addressing the question posed?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2441448"/>
            <a:ext cx="0" cy="118872"/>
          </a:xfrm>
          <a:prstGeom prst="line">
            <a:avLst/>
          </a:prstGeom>
          <a:noFill/>
          <a:ln w="19050">
            <a:solidFill>
              <a:srgbClr val="6B7A8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20040" y="2560320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60320"/>
            <a:ext cx="201168" cy="111556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2670048"/>
            <a:ext cx="1051560" cy="2926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670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651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Evasion Strategy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NOT_DIRECT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29809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TOPIC_SHIFT  ·  PASS_BLAME  ·  STORY_TELLING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828800" y="323697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 ·  How does the politician deflect? One or more strategies may co-occur.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675888"/>
            <a:ext cx="0" cy="118872"/>
          </a:xfrm>
          <a:prstGeom prst="line">
            <a:avLst/>
          </a:prstGeom>
          <a:noFill/>
          <a:ln w="19050">
            <a:solidFill>
              <a:srgbClr val="6B7A8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20040" y="3794760"/>
            <a:ext cx="8503920" cy="1115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794760"/>
            <a:ext cx="201168" cy="11155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3904488"/>
            <a:ext cx="1051560" cy="29260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39044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886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Rhetorical Mechanism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20640" y="3886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NOT_DIRECT only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42153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ATTACK_QUESTIONER  ·  ATTACK_OPPONENT  ·  DEFERRED_RESPONSE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828800" y="447141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 ·  What rhetorical device underlies the evasion?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Scheme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Inter-Annotator Agreement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Krippendorff's Alpha (primary) · Pairwise Cohen's Kappa (fallback)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0.447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468880" cy="164592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97480"/>
            <a:ext cx="1604772" cy="164592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44368"/>
            <a:ext cx="1280160" cy="274320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range: 0.25 – 0.62 · 79 overlapping items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32588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32588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Evasion Strategy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9933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4048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0.148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3383280" y="2697480"/>
            <a:ext cx="2468880" cy="164592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2697480"/>
            <a:ext cx="543154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0" y="2944368"/>
            <a:ext cx="1280160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range: -0.07 – 0.44 · 32 overlapping items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325880"/>
            <a:ext cx="27432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325880"/>
            <a:ext cx="2743200" cy="54864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Rhetorical Mechanism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19933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A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α =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66560" y="19202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4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0.356</a:t>
            </a:r>
            <a:endParaRPr lang="en-US" sz="3800" dirty="0"/>
          </a:p>
        </p:txBody>
      </p:sp>
      <p:sp>
        <p:nvSpPr>
          <p:cNvPr id="34" name="Shape 32"/>
          <p:cNvSpPr/>
          <p:nvPr/>
        </p:nvSpPr>
        <p:spPr>
          <a:xfrm>
            <a:off x="6309360" y="2697480"/>
            <a:ext cx="2468880" cy="164592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2697480"/>
            <a:ext cx="1308506" cy="164592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09360" y="2944368"/>
            <a:ext cx="1280160" cy="274320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32918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range: 0.00 – 1.00 · 31 overlapping items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40690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scale:  &lt; 0.20 = Poor   ·   0.20–0.40 = Fair   ·   0.41–0.60 = Moderate   ·   &gt; 0.60 = Substantial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Inter-Annotator Agreement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features · Logistic regression · Balanced class weights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71600"/>
            <a:ext cx="196596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Shape 6"/>
          <p:cNvSpPr/>
          <p:nvPr/>
        </p:nvSpPr>
        <p:spPr>
          <a:xfrm>
            <a:off x="384048" y="1481328"/>
            <a:ext cx="411480" cy="4114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149961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938528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[SEP] candidate utterance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178308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487168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7168" y="1371600"/>
            <a:ext cx="196596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5" name="Shape 13"/>
          <p:cNvSpPr/>
          <p:nvPr/>
        </p:nvSpPr>
        <p:spPr>
          <a:xfrm>
            <a:off x="2596896" y="1481328"/>
            <a:ext cx="411480" cy="4114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16" name="Text 14"/>
          <p:cNvSpPr/>
          <p:nvPr/>
        </p:nvSpPr>
        <p:spPr>
          <a:xfrm>
            <a:off x="2596896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81528" y="149961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96896" y="1938528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min_df=2 · max_df=0.9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53128" y="178308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700016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0016" y="1371600"/>
            <a:ext cx="196596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9744" y="1481328"/>
            <a:ext cx="411480" cy="4114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974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94376" y="149961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9744" y="1938528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Logistic Regression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L2/L3: One-vs-Rest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65976" y="1783080"/>
            <a:ext cx="246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912864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12864" y="1371600"/>
            <a:ext cx="196596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29" name="Shape 27"/>
          <p:cNvSpPr/>
          <p:nvPr/>
        </p:nvSpPr>
        <p:spPr>
          <a:xfrm>
            <a:off x="7022592" y="1481328"/>
            <a:ext cx="411480" cy="4114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0" name="Text 28"/>
          <p:cNvSpPr/>
          <p:nvPr/>
        </p:nvSpPr>
        <p:spPr>
          <a:xfrm>
            <a:off x="702259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507224" y="1499616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22592" y="1938528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predictions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F1 evaluation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2999232"/>
            <a:ext cx="41605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999232"/>
            <a:ext cx="416052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3108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class_weight='balanced'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456432"/>
            <a:ext cx="38862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balancing: classifiers default to majority-class prediction. DIRECT dominates Layer 1; TOPIC_SHIFT dominates Layer 2. Balanced weights force the model to attend to all classes, producing linguistically interpretable F1 scores across minority categories.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63440" y="2999232"/>
            <a:ext cx="41605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999232"/>
            <a:ext cx="4160520" cy="54864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3108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Setup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3456432"/>
            <a:ext cx="38862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on Layer 1 labels. Same indices reused for all three layers so every layer sees the same train/test partition.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2 &amp; 3 trained exclusively on NOT_DIRECT rows (121 train · 30 test) to avoid dummy-label noise from DIRECT responses.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per layer · class_weight='balanced' logistic regression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743200" cy="457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48132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1  —  Macro F1 = 0.70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" y="1792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0.605   ·   Above baseline 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417320"/>
            <a:ext cx="2743200" cy="45720"/>
          </a:xfrm>
          <a:prstGeom prst="rect">
            <a:avLst/>
          </a:prstGeom>
          <a:solidFill>
            <a:srgbClr val="D4820A"/>
          </a:solidFill>
          <a:ln/>
        </p:spPr>
      </p:sp>
      <p:sp>
        <p:nvSpPr>
          <p:cNvPr id="12" name="Text 10"/>
          <p:cNvSpPr/>
          <p:nvPr/>
        </p:nvSpPr>
        <p:spPr>
          <a:xfrm>
            <a:off x="3374136" y="148132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2  —  Macro F1 = 0.49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74136" y="1792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0.433   ·   Moderate — all classes detected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7432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417320"/>
            <a:ext cx="274320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00216" y="148132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3  —  Macro F1 = 0.33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1792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0.545   ·   Below baseline — noisy labels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2677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breakdown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42032"/>
          <a:ext cx="8503920" cy="1993392"/>
        </p:xfrm>
        <a:graphic>
          <a:graphicData uri="http://schemas.openxmlformats.org/drawingml/2006/table">
            <a:tbl>
              <a:tblPr/>
              <a:tblGrid>
                <a:gridCol w="1234440"/>
                <a:gridCol w="2148840"/>
                <a:gridCol w="1188720"/>
                <a:gridCol w="1188720"/>
                <a:gridCol w="868680"/>
                <a:gridCol w="960120"/>
              </a:tblGrid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NOT_DIRECT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TOPIC_SHIFT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PASS_BLAME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STORY_TELLING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ATTACK_OPPONENT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DEFERRED_RESPONSE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1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ATTACK_QUESTIONER (⚠ n=1)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C2E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what they tell 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128016" cy="1664208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" y="14356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 predicts classifier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830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(α=0.447) → macro F1=0.70. Layer 2 (α=0.148) → macro F1=0.49. Layer 3 (α=0.356) → macro F1=0.33. The pattern is consistent across all layers: label noise sets a ceiling on what any classifier can achieve.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1325880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1325880"/>
            <a:ext cx="128016" cy="166420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2" name="Text 10"/>
          <p:cNvSpPr/>
          <p:nvPr/>
        </p:nvSpPr>
        <p:spPr>
          <a:xfrm>
            <a:off x="4946904" y="143560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annotator pool amplifies disagreement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46904" y="178308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 and high school seniors without a calibration session produced pairwise κ ranging from 0.25 to 0.62 on Layer 1 alone. Annotator-specific interpretation differences were not resolved before annotation began.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13639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36392"/>
            <a:ext cx="128016" cy="16642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" y="32461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 are essential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" y="359359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balancing, Layer 2 and Layer 3 classifiers collapsed to majority-class prediction (F1≈0 on minority classes). Balanced weights recovered meaningful F1 scores across all categories — a necessary correction for any small annotated corpus.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313639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3136392"/>
            <a:ext cx="128016" cy="166420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46904" y="324612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ATTACK_QUESTIONER is effectively unevaluable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46904" y="3593592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of 1 in the test set means F1=0.00 is not a performance finding — it is a sampling artifact. More data is required before this class can be meaningfully evaluated.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5603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Directions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100584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and next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97764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39776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corpus (390 usable instances; 30 test rows for Layers 2–3)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annotator expertise + no calibration session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overlap design — agreement estimates imprecise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Layers 2 &amp; 3 increase annotation difficulty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U.S. presidential debates (2000, 2004)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spreadsheet caused 6 excluded Layer 3 instances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325880"/>
            <a:ext cx="425196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325880"/>
            <a:ext cx="4251960" cy="548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41732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181051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revision  </a:t>
            </a:r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definitions, decision trees, anchor examples for Layers 2 &amp; 3. Target α ≥ 0.60 before scaling.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22576"/>
            <a:ext cx="38404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4048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sessions  </a:t>
            </a:r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annotator training with disagreement resolution before independent annotation begins.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16936"/>
            <a:ext cx="38404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99923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  </a:t>
            </a:r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or DeBERTa fine-tuning on a larger, higher-quality annotated dataset.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511296"/>
            <a:ext cx="38404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59359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enrichment  </a:t>
            </a:r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identity, question type, and presupposition structure as auxiliary inputs.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05656"/>
            <a:ext cx="384048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1879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eval  </a:t>
            </a:r>
            <a:pPr indent="0" marL="0">
              <a:buNone/>
            </a:pPr>
            <a:r>
              <a:rPr lang="en-US" sz="11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trained models to press conference and parliamentary Q&amp;A transcripts.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24128"/>
            <a:ext cx="1828800" cy="54864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07008"/>
            <a:ext cx="77724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(α=0.447)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298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F1 = 0.70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12984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IAA → reliable classification above the 60.5% majority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31136"/>
            <a:ext cx="77724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225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(α=0.148)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3225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F1 = 0.49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2322576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IAA → codebook revision required before meaningful modeling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77724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467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(α=0.356)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33467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E4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F1 = 0.33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89120" y="334670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IAA → improved with balanced weights; ATTACK_QUESTIONER unevaluable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245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finding: classification performance tracks annotator agreement. Label quality, not modeling sophistication, is the primary bottleneck.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Detection of Answerhood in Presidential Q&amp;A</dc:title>
  <dc:subject>PptxGenJS Presentation</dc:subject>
  <dc:creator>PptxGenJS</dc:creator>
  <cp:lastModifiedBy>PptxGenJS</cp:lastModifiedBy>
  <cp:revision>1</cp:revision>
  <dcterms:created xsi:type="dcterms:W3CDTF">2026-04-12T15:11:36Z</dcterms:created>
  <dcterms:modified xsi:type="dcterms:W3CDTF">2026-04-12T15:11:36Z</dcterms:modified>
</cp:coreProperties>
</file>